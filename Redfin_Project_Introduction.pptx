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6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5" d="100"/>
          <a:sy n="155" d="100"/>
        </p:scale>
        <p:origin x="4536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198A8-AFF1-4B36-BC7D-6D7685FF4F5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EFC3F-8AD6-404A-8BE3-90320B4D44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698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a1110b97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7a1110b97c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37a1110b97c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5246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7a1110b97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7a1110b97c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7a1110b97c_0_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1578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198438"/>
            <a:ext cx="9144000" cy="5989638"/>
            <a:chOff x="0" y="-198438"/>
            <a:chExt cx="9144000" cy="5989638"/>
          </a:xfrm>
        </p:grpSpPr>
        <p:sp>
          <p:nvSpPr>
            <p:cNvPr id="7" name="Rectangle 4"/>
            <p:cNvSpPr>
              <a:spLocks noChangeArrowheads="1"/>
            </p:cNvSpPr>
            <p:nvPr userDrawn="1"/>
          </p:nvSpPr>
          <p:spPr bwMode="auto">
            <a:xfrm>
              <a:off x="0" y="-198438"/>
              <a:ext cx="9144000" cy="1417638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dirty="0">
                  <a:latin typeface="Arial"/>
                  <a:ea typeface="ＭＳ Ｐゴシック" charset="0"/>
                  <a:cs typeface="Arial"/>
                </a:rPr>
                <a:t>`</a:t>
              </a:r>
            </a:p>
          </p:txBody>
        </p:sp>
        <p:sp>
          <p:nvSpPr>
            <p:cNvPr id="8" name="Rectangle 5"/>
            <p:cNvSpPr>
              <a:spLocks noChangeArrowheads="1"/>
            </p:cNvSpPr>
            <p:nvPr userDrawn="1"/>
          </p:nvSpPr>
          <p:spPr bwMode="auto">
            <a:xfrm>
              <a:off x="0" y="1143000"/>
              <a:ext cx="9144000" cy="4648200"/>
            </a:xfrm>
            <a:prstGeom prst="rect">
              <a:avLst/>
            </a:pr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07763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ko-KR" altLang="ko-KR" sz="140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22363"/>
            <a:ext cx="9144000" cy="2387600"/>
          </a:xfrm>
        </p:spPr>
        <p:txBody>
          <a:bodyPr anchor="t">
            <a:normAutofit/>
          </a:bodyPr>
          <a:lstStyle>
            <a:lvl1pPr algn="ctr">
              <a:defRPr sz="3600">
                <a:solidFill>
                  <a:srgbClr val="FFFF00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467099"/>
            <a:ext cx="6858000" cy="30120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56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8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5741377" y="6594231"/>
            <a:ext cx="971550" cy="2590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94230"/>
            <a:ext cx="4448175" cy="269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594231"/>
            <a:ext cx="457200" cy="2651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269964" y="819194"/>
            <a:ext cx="8874035" cy="570352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75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9234" y="814250"/>
            <a:ext cx="4384765" cy="57041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269967" y="818605"/>
            <a:ext cx="4384765" cy="57041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45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5741377" y="6594231"/>
            <a:ext cx="971550" cy="2590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94230"/>
            <a:ext cx="4448175" cy="269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594231"/>
            <a:ext cx="457200" cy="2651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83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5741377" y="6594231"/>
            <a:ext cx="971550" cy="2590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94230"/>
            <a:ext cx="4448175" cy="269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594231"/>
            <a:ext cx="457200" cy="2651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5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3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809898"/>
            <a:chOff x="0" y="0"/>
            <a:chExt cx="9144000" cy="809898"/>
          </a:xfrm>
        </p:grpSpPr>
        <p:sp>
          <p:nvSpPr>
            <p:cNvPr id="10" name="Rectangle 25"/>
            <p:cNvSpPr>
              <a:spLocks noChangeArrowheads="1"/>
            </p:cNvSpPr>
            <p:nvPr/>
          </p:nvSpPr>
          <p:spPr bwMode="auto">
            <a:xfrm>
              <a:off x="0" y="339726"/>
              <a:ext cx="9144000" cy="470172"/>
            </a:xfrm>
            <a:prstGeom prst="rect">
              <a:avLst/>
            </a:prstGeom>
            <a:gradFill rotWithShape="0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ko-KR" altLang="ko-KR"/>
            </a:p>
          </p:txBody>
        </p:sp>
        <p:sp>
          <p:nvSpPr>
            <p:cNvPr id="7" name="Rectangle 24"/>
            <p:cNvSpPr>
              <a:spLocks noChangeArrowheads="1"/>
            </p:cNvSpPr>
            <p:nvPr/>
          </p:nvSpPr>
          <p:spPr bwMode="auto">
            <a:xfrm>
              <a:off x="0" y="0"/>
              <a:ext cx="9144000" cy="338138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" pitchFamily="2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ko-KR" altLang="ko-KR"/>
            </a:p>
          </p:txBody>
        </p:sp>
      </p:grpSp>
      <p:sp>
        <p:nvSpPr>
          <p:cNvPr id="8" name="Rectangle 26"/>
          <p:cNvSpPr>
            <a:spLocks noChangeArrowheads="1"/>
          </p:cNvSpPr>
          <p:nvPr/>
        </p:nvSpPr>
        <p:spPr bwMode="auto">
          <a:xfrm flipV="1">
            <a:off x="0" y="455019"/>
            <a:ext cx="9144000" cy="74613"/>
          </a:xfrm>
          <a:prstGeom prst="rect">
            <a:avLst/>
          </a:prstGeom>
          <a:gradFill rotWithShape="0">
            <a:gsLst>
              <a:gs pos="0">
                <a:srgbClr val="000CFF"/>
              </a:gs>
              <a:gs pos="50000">
                <a:srgbClr val="FFDC11"/>
              </a:gs>
              <a:gs pos="100000">
                <a:srgbClr val="000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9pPr>
          </a:lstStyle>
          <a:p>
            <a:pPr algn="ctr">
              <a:defRPr/>
            </a:pPr>
            <a:endParaRPr lang="ko-KR" altLang="en-US" sz="2800">
              <a:solidFill>
                <a:srgbClr val="FBFF05"/>
              </a:solidFill>
              <a:ea typeface="굴림" pitchFamily="50" charset="-127"/>
            </a:endParaRPr>
          </a:p>
        </p:txBody>
      </p:sp>
      <p:sp>
        <p:nvSpPr>
          <p:cNvPr id="9" name="Rectangle 27"/>
          <p:cNvSpPr>
            <a:spLocks noChangeArrowheads="1"/>
          </p:cNvSpPr>
          <p:nvPr/>
        </p:nvSpPr>
        <p:spPr bwMode="auto">
          <a:xfrm flipV="1">
            <a:off x="0" y="6526495"/>
            <a:ext cx="9144000" cy="74612"/>
          </a:xfrm>
          <a:prstGeom prst="rect">
            <a:avLst/>
          </a:prstGeom>
          <a:gradFill rotWithShape="0">
            <a:gsLst>
              <a:gs pos="0">
                <a:srgbClr val="000CFF"/>
              </a:gs>
              <a:gs pos="50000">
                <a:srgbClr val="FFDC11"/>
              </a:gs>
              <a:gs pos="100000">
                <a:srgbClr val="000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" pitchFamily="2" charset="0"/>
                <a:ea typeface="MS PGothic" pitchFamily="34" charset="-128"/>
              </a:defRPr>
            </a:lvl9pPr>
          </a:lstStyle>
          <a:p>
            <a:pPr algn="ctr">
              <a:defRPr/>
            </a:pPr>
            <a:endParaRPr lang="ko-KR" altLang="en-US" sz="2800">
              <a:solidFill>
                <a:srgbClr val="FBFF05"/>
              </a:solidFill>
              <a:ea typeface="굴림" pitchFamily="50" charset="-127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41377" y="6594231"/>
            <a:ext cx="971550" cy="2590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94230"/>
            <a:ext cx="4448175" cy="269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594231"/>
            <a:ext cx="457200" cy="2651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269966" y="818607"/>
            <a:ext cx="8874034" cy="5707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2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kern="1200">
          <a:solidFill>
            <a:srgbClr val="FFFF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marR="0" indent="-274320" algn="l" defTabSz="914400" rtl="0" eaLnBrk="1" fontAlgn="auto" latinLnBrk="1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Wingdings" panose="05000000000000000000" pitchFamily="2" charset="2"/>
        <a:buChar char="q"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marR="0" indent="-274320" algn="l" defTabSz="914400" rtl="0" eaLnBrk="1" fontAlgn="auto" latinLnBrk="1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34390" marR="0" indent="-285750" algn="l" defTabSz="914400" rtl="0" eaLnBrk="1" fontAlgn="auto" latinLnBrk="1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ourier New" panose="02070309020205020404" pitchFamily="49" charset="0"/>
        <a:buChar char="o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97280" marR="0" indent="-274320" algn="l" defTabSz="914400" rtl="0" eaLnBrk="1" fontAlgn="auto" latinLnBrk="1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71600" marR="0" indent="-274320" algn="l" defTabSz="914400" rtl="0" eaLnBrk="1" fontAlgn="auto" latinLnBrk="1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 smtClean="0"/>
              <a:t>Redfin</a:t>
            </a:r>
            <a:r>
              <a:rPr dirty="0" smtClean="0"/>
              <a:t> </a:t>
            </a:r>
            <a:r>
              <a:rPr dirty="0"/>
              <a:t>Housing Market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Introduction and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Project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Exploring Housing Market Dynamics with </a:t>
            </a:r>
            <a:r>
              <a:rPr lang="en-US" b="1" dirty="0" err="1"/>
              <a:t>Redfin</a:t>
            </a:r>
            <a:r>
              <a:rPr lang="en-US" b="1" dirty="0"/>
              <a:t> Data</a:t>
            </a:r>
            <a:endParaRPr b="1" dirty="0" smtClean="0"/>
          </a:p>
          <a:p>
            <a:pPr>
              <a:lnSpc>
                <a:spcPct val="150000"/>
              </a:lnSpc>
            </a:pPr>
            <a:r>
              <a:rPr dirty="0" smtClean="0"/>
              <a:t>Goal</a:t>
            </a:r>
            <a:r>
              <a:rPr lang="en-US" dirty="0"/>
              <a:t>: To explain how housing characteristics affect price, rather than to predict exact sale </a:t>
            </a:r>
            <a:r>
              <a:rPr lang="en-US" dirty="0" smtClean="0"/>
              <a:t>prices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ea typeface="Times New Roman"/>
                <a:sym typeface="Times New Roman"/>
              </a:rPr>
              <a:t>Understand which factors (size, location, year built) most influence housing </a:t>
            </a:r>
            <a:r>
              <a:rPr lang="en-US" altLang="ko-KR" dirty="0" smtClean="0">
                <a:ea typeface="Times New Roman"/>
                <a:sym typeface="Times New Roman"/>
              </a:rPr>
              <a:t>prices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ea typeface="Times New Roman"/>
                <a:sym typeface="Times New Roman"/>
              </a:rPr>
              <a:t>Compare market characteristics between selected cities</a:t>
            </a:r>
            <a:endParaRPr lang="en-US" altLang="ko-KR" dirty="0" smtClean="0">
              <a:ea typeface="Times New Roman"/>
              <a:sym typeface="Times New Roman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ea typeface="Times New Roman"/>
                <a:sym typeface="Times New Roman"/>
              </a:rPr>
              <a:t>Communicate findings clearly through data visualization and regression </a:t>
            </a:r>
            <a:r>
              <a:rPr lang="en-US" altLang="ko-KR" dirty="0" smtClean="0">
                <a:ea typeface="Times New Roman"/>
                <a:sym typeface="Times New Roman"/>
              </a:rPr>
              <a:t>interpretation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>
                <a:ea typeface="Times New Roman"/>
                <a:sym typeface="Times New Roman"/>
              </a:rPr>
              <a:t>Core Questions</a:t>
            </a:r>
          </a:p>
          <a:p>
            <a:pPr lvl="1">
              <a:lnSpc>
                <a:spcPct val="150000"/>
              </a:lnSpc>
            </a:pPr>
            <a:r>
              <a:rPr lang="en-US" altLang="ko-KR" dirty="0" smtClean="0">
                <a:ea typeface="Times New Roman"/>
                <a:sym typeface="Times New Roman"/>
              </a:rPr>
              <a:t>Which </a:t>
            </a:r>
            <a:r>
              <a:rPr lang="en-US" altLang="ko-KR" dirty="0">
                <a:ea typeface="Times New Roman"/>
                <a:sym typeface="Times New Roman"/>
              </a:rPr>
              <a:t>factors (size, location, year built) drive price the </a:t>
            </a:r>
            <a:r>
              <a:rPr lang="en-US" altLang="ko-KR" dirty="0" smtClean="0">
                <a:ea typeface="Times New Roman"/>
                <a:sym typeface="Times New Roman"/>
              </a:rPr>
              <a:t>most?</a:t>
            </a:r>
          </a:p>
          <a:p>
            <a:pPr lvl="1">
              <a:lnSpc>
                <a:spcPct val="150000"/>
              </a:lnSpc>
            </a:pPr>
            <a:r>
              <a:rPr lang="en-US" altLang="ko-KR" dirty="0" smtClean="0">
                <a:ea typeface="Times New Roman"/>
                <a:sym typeface="Times New Roman"/>
              </a:rPr>
              <a:t>How </a:t>
            </a:r>
            <a:r>
              <a:rPr lang="en-US" altLang="ko-KR" dirty="0">
                <a:ea typeface="Times New Roman"/>
                <a:sym typeface="Times New Roman"/>
              </a:rPr>
              <a:t>do prices differ across counties? Select </a:t>
            </a:r>
            <a:r>
              <a:rPr lang="en-US" altLang="ko-KR" dirty="0" smtClean="0">
                <a:ea typeface="Times New Roman"/>
                <a:sym typeface="Times New Roman"/>
              </a:rPr>
              <a:t>2~3 cities? Why?</a:t>
            </a:r>
          </a:p>
          <a:p>
            <a:pPr lvl="1">
              <a:lnSpc>
                <a:spcPct val="150000"/>
              </a:lnSpc>
            </a:pPr>
            <a:r>
              <a:rPr lang="en-US" altLang="ko-KR" dirty="0" smtClean="0">
                <a:ea typeface="Times New Roman"/>
                <a:sym typeface="Times New Roman"/>
              </a:rPr>
              <a:t>Can </a:t>
            </a:r>
            <a:r>
              <a:rPr lang="en-US" altLang="ko-KR" dirty="0">
                <a:ea typeface="Times New Roman"/>
                <a:sym typeface="Times New Roman"/>
              </a:rPr>
              <a:t>we build a model that accurately predicts housing </a:t>
            </a:r>
            <a:r>
              <a:rPr lang="en-US" altLang="ko-KR" dirty="0" smtClean="0">
                <a:ea typeface="Times New Roman"/>
                <a:sym typeface="Times New Roman"/>
              </a:rPr>
              <a:t>prices?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a1110b97c_0_40"/>
          <p:cNvSpPr txBox="1">
            <a:spLocks noGrp="1"/>
          </p:cNvSpPr>
          <p:nvPr>
            <p:ph type="body" idx="1"/>
          </p:nvPr>
        </p:nvSpPr>
        <p:spPr>
          <a:xfrm>
            <a:off x="192419" y="931567"/>
            <a:ext cx="8834191" cy="4740183"/>
          </a:xfrm>
          <a:prstGeom prst="rect">
            <a:avLst/>
          </a:prstGeom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b="1" dirty="0">
                <a:ea typeface="Times New Roman"/>
                <a:sym typeface="Times New Roman"/>
              </a:rPr>
              <a:t>Step 1. Data Import &amp; Cleaning</a:t>
            </a:r>
            <a:r>
              <a:rPr lang="en-US" dirty="0">
                <a:ea typeface="Times New Roman"/>
                <a:sym typeface="Times New Roman"/>
              </a:rPr>
              <a:t> – Pandas, </a:t>
            </a:r>
            <a:r>
              <a:rPr lang="en-US" dirty="0" err="1">
                <a:ea typeface="Times New Roman"/>
                <a:sym typeface="Times New Roman"/>
              </a:rPr>
              <a:t>NumPy</a:t>
            </a:r>
            <a:endParaRPr dirty="0">
              <a:ea typeface="Times New Roman"/>
              <a:sym typeface="Times New Roman"/>
            </a:endParaRPr>
          </a:p>
          <a:p>
            <a:pPr>
              <a:lnSpc>
                <a:spcPct val="15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b="1" dirty="0">
                <a:ea typeface="Times New Roman"/>
                <a:sym typeface="Times New Roman"/>
              </a:rPr>
              <a:t>Step 2. Exploratory Data Analysis (EDA)</a:t>
            </a:r>
            <a:r>
              <a:rPr lang="en-US" dirty="0">
                <a:ea typeface="Times New Roman"/>
                <a:sym typeface="Times New Roman"/>
              </a:rPr>
              <a:t> – Visualization with </a:t>
            </a:r>
            <a:r>
              <a:rPr lang="en-US" dirty="0" err="1" smtClean="0">
                <a:ea typeface="Times New Roman"/>
                <a:sym typeface="Times New Roman"/>
              </a:rPr>
              <a:t>Matplotlib</a:t>
            </a:r>
            <a:endParaRPr dirty="0">
              <a:ea typeface="Times New Roman"/>
              <a:sym typeface="Times New Roman"/>
            </a:endParaRPr>
          </a:p>
          <a:p>
            <a:pPr>
              <a:lnSpc>
                <a:spcPct val="15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b="1" dirty="0">
                <a:ea typeface="Times New Roman"/>
                <a:sym typeface="Times New Roman"/>
              </a:rPr>
              <a:t>Step 3. Modeling</a:t>
            </a:r>
            <a:r>
              <a:rPr lang="en-US" dirty="0">
                <a:ea typeface="Times New Roman"/>
                <a:sym typeface="Times New Roman"/>
              </a:rPr>
              <a:t> – Linear Regression (</a:t>
            </a:r>
            <a:r>
              <a:rPr lang="en-US" dirty="0" err="1">
                <a:ea typeface="Times New Roman"/>
                <a:sym typeface="Times New Roman"/>
              </a:rPr>
              <a:t>Scikit</a:t>
            </a:r>
            <a:r>
              <a:rPr lang="en-US" dirty="0">
                <a:ea typeface="Times New Roman"/>
                <a:sym typeface="Times New Roman"/>
              </a:rPr>
              <a:t>-learn</a:t>
            </a:r>
            <a:r>
              <a:rPr lang="en-US" dirty="0" smtClean="0">
                <a:ea typeface="Times New Roman"/>
                <a:sym typeface="Times New Roman"/>
              </a:rPr>
              <a:t>)</a:t>
            </a:r>
          </a:p>
          <a:p>
            <a:pPr>
              <a:lnSpc>
                <a:spcPct val="15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altLang="ko-KR" b="1" dirty="0">
                <a:ea typeface="Times New Roman"/>
                <a:sym typeface="Times New Roman"/>
              </a:rPr>
              <a:t>Step 4. Communication</a:t>
            </a:r>
            <a:r>
              <a:rPr lang="en-US" altLang="ko-KR" dirty="0">
                <a:ea typeface="Times New Roman"/>
                <a:sym typeface="Times New Roman"/>
              </a:rPr>
              <a:t> – Final report &amp; presentation (</a:t>
            </a:r>
            <a:r>
              <a:rPr lang="en-US" altLang="ko-KR" dirty="0" err="1">
                <a:ea typeface="Times New Roman"/>
                <a:sym typeface="Times New Roman"/>
              </a:rPr>
              <a:t>Jupyter</a:t>
            </a:r>
            <a:r>
              <a:rPr lang="en-US" altLang="ko-KR" dirty="0">
                <a:ea typeface="Times New Roman"/>
                <a:sym typeface="Times New Roman"/>
              </a:rPr>
              <a:t>/</a:t>
            </a:r>
            <a:r>
              <a:rPr lang="en-US" altLang="ko-KR" dirty="0" err="1">
                <a:ea typeface="Times New Roman"/>
                <a:sym typeface="Times New Roman"/>
              </a:rPr>
              <a:t>Colab</a:t>
            </a:r>
            <a:r>
              <a:rPr lang="en-US" altLang="ko-KR" dirty="0">
                <a:ea typeface="Times New Roman"/>
                <a:sym typeface="Times New Roman"/>
              </a:rPr>
              <a:t> + PPT</a:t>
            </a:r>
            <a:r>
              <a:rPr lang="en-US" altLang="ko-KR" dirty="0" smtClean="0">
                <a:ea typeface="Times New Roman"/>
                <a:sym typeface="Times New Roman"/>
              </a:rPr>
              <a:t>)</a:t>
            </a:r>
            <a:endParaRPr dirty="0">
              <a:ea typeface="Times New Roman"/>
              <a:sym typeface="Times New Roman"/>
            </a:endParaRPr>
          </a:p>
        </p:txBody>
      </p:sp>
      <p:sp>
        <p:nvSpPr>
          <p:cNvPr id="327" name="Google Shape;327;g37a1110b97c_0_40"/>
          <p:cNvSpPr txBox="1">
            <a:spLocks noGrp="1"/>
          </p:cNvSpPr>
          <p:nvPr>
            <p:ph type="sldNum" idx="12"/>
          </p:nvPr>
        </p:nvSpPr>
        <p:spPr>
          <a:xfrm>
            <a:off x="7699545" y="5260181"/>
            <a:ext cx="413325" cy="283275"/>
          </a:xfrm>
          <a:prstGeom prst="rect">
            <a:avLst/>
          </a:prstGeom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US"/>
              <a:pPr>
                <a:buClr>
                  <a:srgbClr val="000000"/>
                </a:buClr>
              </a:pPr>
              <a:t>3</a:t>
            </a:fld>
            <a:endParaRPr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Methodology &amp; Tools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941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Data Source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826" y="818607"/>
            <a:ext cx="5043439" cy="57078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dirty="0"/>
              <a:t>Source: </a:t>
            </a:r>
            <a:r>
              <a:rPr dirty="0" err="1"/>
              <a:t>Redfin</a:t>
            </a:r>
            <a:r>
              <a:rPr dirty="0"/>
              <a:t> (https://www.redfin.com)</a:t>
            </a:r>
          </a:p>
          <a:p>
            <a:pPr>
              <a:lnSpc>
                <a:spcPct val="150000"/>
              </a:lnSpc>
            </a:pPr>
            <a:r>
              <a:rPr dirty="0" err="1" smtClean="0"/>
              <a:t>Redfin</a:t>
            </a:r>
            <a:r>
              <a:rPr dirty="0" smtClean="0"/>
              <a:t> </a:t>
            </a:r>
            <a:r>
              <a:rPr dirty="0"/>
              <a:t>provides real estate listings including: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Price</a:t>
            </a:r>
            <a:r>
              <a:rPr dirty="0"/>
              <a:t>, Beds, Baths, Square Feet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Days </a:t>
            </a:r>
            <a:r>
              <a:rPr dirty="0"/>
              <a:t>on Market, Year Built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City </a:t>
            </a:r>
            <a:r>
              <a:rPr dirty="0"/>
              <a:t>and State</a:t>
            </a:r>
          </a:p>
          <a:p>
            <a:pPr>
              <a:lnSpc>
                <a:spcPct val="150000"/>
              </a:lnSpc>
            </a:pPr>
            <a:r>
              <a:rPr dirty="0" smtClean="0"/>
              <a:t>Each </a:t>
            </a:r>
            <a:r>
              <a:rPr dirty="0"/>
              <a:t>row = one property listing</a:t>
            </a:r>
          </a:p>
          <a:p>
            <a:pPr>
              <a:lnSpc>
                <a:spcPct val="150000"/>
              </a:lnSpc>
            </a:pPr>
            <a:r>
              <a:rPr dirty="0"/>
              <a:t>Each column = an attribute of that property.</a:t>
            </a:r>
          </a:p>
        </p:txBody>
      </p:sp>
      <p:pic>
        <p:nvPicPr>
          <p:cNvPr id="4" name="Google Shape;30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78627" y="2332310"/>
            <a:ext cx="3752222" cy="3132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How </a:t>
            </a:r>
            <a:r>
              <a:rPr dirty="0"/>
              <a:t>to Obtain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dirty="0" smtClean="0"/>
              <a:t>Choose </a:t>
            </a:r>
            <a:r>
              <a:rPr dirty="0"/>
              <a:t>a city or region (e.g., Seattle, Austin, Boston)</a:t>
            </a:r>
          </a:p>
          <a:p>
            <a:pPr>
              <a:lnSpc>
                <a:spcPct val="150000"/>
              </a:lnSpc>
            </a:pPr>
            <a:r>
              <a:rPr dirty="0" smtClean="0"/>
              <a:t>Go </a:t>
            </a:r>
            <a:r>
              <a:rPr dirty="0"/>
              <a:t>to </a:t>
            </a:r>
            <a:r>
              <a:rPr dirty="0" err="1"/>
              <a:t>Redfin</a:t>
            </a:r>
            <a:r>
              <a:rPr dirty="0"/>
              <a:t> search page → Scroll down → Click 'Download Data'</a:t>
            </a:r>
          </a:p>
          <a:p>
            <a:pPr>
              <a:lnSpc>
                <a:spcPct val="150000"/>
              </a:lnSpc>
            </a:pPr>
            <a:r>
              <a:rPr dirty="0" smtClean="0"/>
              <a:t>Save </a:t>
            </a:r>
            <a:r>
              <a:rPr dirty="0"/>
              <a:t>the CSV file and load it into Python using </a:t>
            </a:r>
            <a:r>
              <a:rPr dirty="0" err="1"/>
              <a:t>pandas.read_csv</a:t>
            </a:r>
            <a:r>
              <a:rPr dirty="0"/>
              <a:t>()</a:t>
            </a:r>
          </a:p>
          <a:p>
            <a:pPr>
              <a:lnSpc>
                <a:spcPct val="150000"/>
              </a:lnSpc>
            </a:pPr>
            <a:r>
              <a:rPr dirty="0" smtClean="0"/>
              <a:t>Each </a:t>
            </a:r>
            <a:r>
              <a:rPr dirty="0"/>
              <a:t>team should select a different city for diversity.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Example </a:t>
            </a:r>
            <a:r>
              <a:rPr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These variables will form the basis of your exploratory and regression analysis.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PRICE </a:t>
            </a:r>
            <a:r>
              <a:rPr lang="en-US" dirty="0" smtClean="0"/>
              <a:t>:</a:t>
            </a:r>
            <a:r>
              <a:rPr dirty="0" smtClean="0"/>
              <a:t> </a:t>
            </a:r>
            <a:r>
              <a:rPr dirty="0"/>
              <a:t>Listing price ($)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BEDS </a:t>
            </a:r>
            <a:r>
              <a:rPr lang="en-US" dirty="0" smtClean="0"/>
              <a:t>:</a:t>
            </a:r>
            <a:r>
              <a:rPr dirty="0" smtClean="0"/>
              <a:t> </a:t>
            </a:r>
            <a:r>
              <a:rPr dirty="0"/>
              <a:t>Number of bedrooms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BATHS </a:t>
            </a:r>
            <a:r>
              <a:rPr lang="en-US" dirty="0" smtClean="0"/>
              <a:t>:</a:t>
            </a:r>
            <a:r>
              <a:rPr dirty="0" smtClean="0"/>
              <a:t> </a:t>
            </a:r>
            <a:r>
              <a:rPr dirty="0"/>
              <a:t>Number of bathrooms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SQUARE </a:t>
            </a:r>
            <a:r>
              <a:rPr dirty="0"/>
              <a:t>FEET </a:t>
            </a:r>
            <a:r>
              <a:rPr lang="en-US" dirty="0" smtClean="0"/>
              <a:t>:</a:t>
            </a:r>
            <a:r>
              <a:rPr dirty="0" smtClean="0"/>
              <a:t> </a:t>
            </a:r>
            <a:r>
              <a:rPr dirty="0"/>
              <a:t>Property area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DAYS </a:t>
            </a:r>
            <a:r>
              <a:rPr dirty="0"/>
              <a:t>ON MARKET </a:t>
            </a:r>
            <a:r>
              <a:rPr lang="en-US" dirty="0" smtClean="0"/>
              <a:t>:</a:t>
            </a:r>
            <a:r>
              <a:rPr dirty="0" smtClean="0"/>
              <a:t> </a:t>
            </a:r>
            <a:r>
              <a:rPr dirty="0"/>
              <a:t>Market duration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YEAR </a:t>
            </a:r>
            <a:r>
              <a:rPr dirty="0"/>
              <a:t>BUILT </a:t>
            </a:r>
            <a:r>
              <a:rPr lang="en-US" dirty="0" smtClean="0"/>
              <a:t>:</a:t>
            </a:r>
            <a:r>
              <a:rPr dirty="0" smtClean="0"/>
              <a:t> </a:t>
            </a:r>
            <a:r>
              <a:rPr dirty="0"/>
              <a:t>Construction year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CITY </a:t>
            </a:r>
            <a:r>
              <a:rPr lang="en-US" dirty="0" smtClean="0"/>
              <a:t>:</a:t>
            </a:r>
            <a:r>
              <a:rPr dirty="0" smtClean="0"/>
              <a:t> </a:t>
            </a:r>
            <a:r>
              <a:rPr dirty="0" smtClean="0"/>
              <a:t>Location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dirty="0"/>
              <a:t>e</a:t>
            </a:r>
            <a:r>
              <a:rPr lang="en-US" dirty="0" smtClean="0"/>
              <a:t>tc..</a:t>
            </a:r>
            <a:endParaRPr dirty="0"/>
          </a:p>
          <a:p>
            <a:pPr>
              <a:lnSpc>
                <a:spcPct val="150000"/>
              </a:lnSpc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a1110b97c_0_50"/>
          <p:cNvSpPr txBox="1">
            <a:spLocks noGrp="1"/>
          </p:cNvSpPr>
          <p:nvPr>
            <p:ph type="body" idx="1"/>
          </p:nvPr>
        </p:nvSpPr>
        <p:spPr>
          <a:xfrm>
            <a:off x="265670" y="913012"/>
            <a:ext cx="8878329" cy="2736900"/>
          </a:xfrm>
          <a:prstGeom prst="rect">
            <a:avLst/>
          </a:prstGeom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 marL="342900" indent="-285750">
              <a:lnSpc>
                <a:spcPct val="200000"/>
              </a:lnSpc>
              <a:spcBef>
                <a:spcPts val="0"/>
              </a:spcBef>
              <a:buSzPts val="2400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Data-driven insights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into housing markets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285750">
              <a:lnSpc>
                <a:spcPct val="200000"/>
              </a:lnSpc>
              <a:spcBef>
                <a:spcPts val="0"/>
              </a:spcBef>
              <a:buSzPts val="2400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Regression model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predicting housing prices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285750">
              <a:lnSpc>
                <a:spcPct val="200000"/>
              </a:lnSpc>
              <a:spcBef>
                <a:spcPts val="0"/>
              </a:spcBef>
              <a:buSzPts val="2400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Team collaboration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in full data science workflow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285750">
              <a:lnSpc>
                <a:spcPct val="200000"/>
              </a:lnSpc>
              <a:spcBef>
                <a:spcPts val="0"/>
              </a:spcBef>
              <a:buSzPts val="2400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Practical skills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cleaning real-world data, visualization, modeling, storytelling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g37a1110b97c_0_50"/>
          <p:cNvSpPr txBox="1">
            <a:spLocks noGrp="1"/>
          </p:cNvSpPr>
          <p:nvPr>
            <p:ph type="sldNum" idx="12"/>
          </p:nvPr>
        </p:nvSpPr>
        <p:spPr>
          <a:xfrm>
            <a:off x="7699545" y="5260181"/>
            <a:ext cx="413325" cy="283275"/>
          </a:xfrm>
          <a:prstGeom prst="rect">
            <a:avLst/>
          </a:prstGeom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US"/>
              <a:pPr>
                <a:buClr>
                  <a:srgbClr val="000000"/>
                </a:buClr>
              </a:pPr>
              <a:t>7</a:t>
            </a:fld>
            <a:endParaRPr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Expected Outcomes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6248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Deliverables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dirty="0" err="1" smtClean="0"/>
              <a:t>Jupyter</a:t>
            </a:r>
            <a:r>
              <a:rPr dirty="0" smtClean="0"/>
              <a:t> </a:t>
            </a:r>
            <a:r>
              <a:rPr dirty="0"/>
              <a:t>Notebook (.</a:t>
            </a:r>
            <a:r>
              <a:rPr dirty="0" err="1"/>
              <a:t>ipynb</a:t>
            </a:r>
            <a:r>
              <a:rPr dirty="0"/>
              <a:t>):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Load </a:t>
            </a:r>
            <a:r>
              <a:rPr dirty="0"/>
              <a:t>your </a:t>
            </a:r>
            <a:r>
              <a:rPr dirty="0" err="1"/>
              <a:t>Redfin</a:t>
            </a:r>
            <a:r>
              <a:rPr dirty="0"/>
              <a:t> CSV data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Create </a:t>
            </a:r>
            <a:r>
              <a:rPr dirty="0"/>
              <a:t>basic visualizations (price histograms, scatter plots)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Write </a:t>
            </a:r>
            <a:r>
              <a:rPr dirty="0"/>
              <a:t>a short paragraph summarizing potential research questions.</a:t>
            </a:r>
          </a:p>
          <a:p>
            <a:pPr lvl="1">
              <a:lnSpc>
                <a:spcPct val="150000"/>
              </a:lnSpc>
            </a:pPr>
            <a:r>
              <a:rPr dirty="0" smtClean="0"/>
              <a:t>Linear </a:t>
            </a:r>
            <a:r>
              <a:rPr dirty="0"/>
              <a:t>Regression &amp; Interpretation</a:t>
            </a:r>
            <a:r>
              <a:rPr dirty="0" smtClean="0"/>
              <a:t>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PPT slides and report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Evaluation </a:t>
            </a:r>
            <a:r>
              <a:rPr dirty="0"/>
              <a:t>Criteria</a:t>
            </a:r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214970"/>
              </p:ext>
            </p:extLst>
          </p:nvPr>
        </p:nvGraphicFramePr>
        <p:xfrm>
          <a:off x="257271" y="1369025"/>
          <a:ext cx="8629457" cy="4561385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519707">
                  <a:extLst>
                    <a:ext uri="{9D8B030D-6E8A-4147-A177-3AD203B41FA5}">
                      <a16:colId xmlns:a16="http://schemas.microsoft.com/office/drawing/2014/main" val="3821412355"/>
                    </a:ext>
                  </a:extLst>
                </a:gridCol>
                <a:gridCol w="660933">
                  <a:extLst>
                    <a:ext uri="{9D8B030D-6E8A-4147-A177-3AD203B41FA5}">
                      <a16:colId xmlns:a16="http://schemas.microsoft.com/office/drawing/2014/main" val="2500310679"/>
                    </a:ext>
                  </a:extLst>
                </a:gridCol>
                <a:gridCol w="2285009">
                  <a:extLst>
                    <a:ext uri="{9D8B030D-6E8A-4147-A177-3AD203B41FA5}">
                      <a16:colId xmlns:a16="http://schemas.microsoft.com/office/drawing/2014/main" val="2582402467"/>
                    </a:ext>
                  </a:extLst>
                </a:gridCol>
                <a:gridCol w="2304313">
                  <a:extLst>
                    <a:ext uri="{9D8B030D-6E8A-4147-A177-3AD203B41FA5}">
                      <a16:colId xmlns:a16="http://schemas.microsoft.com/office/drawing/2014/main" val="4274407201"/>
                    </a:ext>
                  </a:extLst>
                </a:gridCol>
                <a:gridCol w="1859495">
                  <a:extLst>
                    <a:ext uri="{9D8B030D-6E8A-4147-A177-3AD203B41FA5}">
                      <a16:colId xmlns:a16="http://schemas.microsoft.com/office/drawing/2014/main" val="793610482"/>
                    </a:ext>
                  </a:extLst>
                </a:gridCol>
              </a:tblGrid>
              <a:tr h="408145">
                <a:tc>
                  <a:txBody>
                    <a:bodyPr/>
                    <a:lstStyle/>
                    <a:p>
                      <a:r>
                        <a:rPr lang="en-US" sz="1400" dirty="0"/>
                        <a:t>Category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Total </a:t>
                      </a:r>
                    </a:p>
                    <a:p>
                      <a:r>
                        <a:rPr lang="en-US" sz="1400" dirty="0" smtClean="0"/>
                        <a:t>Points</a:t>
                      </a:r>
                      <a:endParaRPr lang="en-US" sz="1400" dirty="0"/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</a:t>
                      </a:r>
                    </a:p>
                  </a:txBody>
                  <a:tcPr marL="87801" marR="87801" marT="43900" marB="43900" anchor="ctr"/>
                </a:tc>
                <a:extLst>
                  <a:ext uri="{0D108BD9-81ED-4DB2-BD59-A6C34878D82A}">
                    <a16:rowId xmlns:a16="http://schemas.microsoft.com/office/drawing/2014/main" val="1586944954"/>
                  </a:ext>
                </a:extLst>
              </a:tr>
              <a:tr h="932903">
                <a:tc>
                  <a:txBody>
                    <a:bodyPr/>
                    <a:lstStyle/>
                    <a:p>
                      <a:r>
                        <a:rPr lang="en-US" sz="1400" dirty="0"/>
                        <a:t>Project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– </a:t>
                      </a:r>
                      <a:r>
                        <a:rPr lang="en-US" sz="1400" dirty="0"/>
                        <a:t>Final Report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 pts</a:t>
                      </a:r>
                      <a:endParaRPr lang="en-US" sz="1400" dirty="0"/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Insufficient data </a:t>
                      </a:r>
                      <a:r>
                        <a:rPr lang="en-US" sz="1400" dirty="0" smtClean="0"/>
                        <a:t>presented</a:t>
                      </a:r>
                    </a:p>
                    <a:p>
                      <a:r>
                        <a:rPr lang="en-US" sz="1400" dirty="0" smtClean="0"/>
                        <a:t>• </a:t>
                      </a:r>
                      <a:r>
                        <a:rPr lang="en-US" sz="1400" dirty="0"/>
                        <a:t>Report </a:t>
                      </a:r>
                      <a:r>
                        <a:rPr lang="en-US" sz="1400" dirty="0" smtClean="0"/>
                        <a:t>written</a:t>
                      </a:r>
                    </a:p>
                    <a:p>
                      <a:r>
                        <a:rPr lang="en-US" sz="1400" dirty="0" smtClean="0"/>
                        <a:t> </a:t>
                      </a:r>
                      <a:r>
                        <a:rPr lang="en-US" sz="1400" dirty="0"/>
                        <a:t>with little effort </a:t>
                      </a:r>
                      <a:endParaRPr lang="en-US" sz="1400" dirty="0" smtClean="0"/>
                    </a:p>
                    <a:p>
                      <a:r>
                        <a:rPr lang="en-US" altLang="ko-KR" sz="1400" dirty="0" smtClean="0"/>
                        <a:t>• </a:t>
                      </a:r>
                      <a:r>
                        <a:rPr lang="en-US" sz="1400" dirty="0" smtClean="0"/>
                        <a:t>(6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Adequate data and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proper format</a:t>
                      </a:r>
                    </a:p>
                    <a:p>
                      <a:r>
                        <a:rPr lang="en-US" sz="1400" dirty="0" smtClean="0"/>
                        <a:t>• </a:t>
                      </a:r>
                      <a:r>
                        <a:rPr lang="en-US" sz="1400" dirty="0"/>
                        <a:t>Reasonably well-organized </a:t>
                      </a:r>
                      <a:endParaRPr lang="en-US" sz="1400" dirty="0" smtClean="0"/>
                    </a:p>
                    <a:p>
                      <a:r>
                        <a:rPr lang="en-US" altLang="ko-KR" sz="1400" dirty="0" smtClean="0"/>
                        <a:t>• </a:t>
                      </a:r>
                      <a:r>
                        <a:rPr lang="en-US" sz="1400" dirty="0" smtClean="0"/>
                        <a:t>(</a:t>
                      </a:r>
                      <a:r>
                        <a:rPr lang="en-US" sz="1400" dirty="0"/>
                        <a:t>8)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Clear structure and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logical flow</a:t>
                      </a:r>
                    </a:p>
                    <a:p>
                      <a:r>
                        <a:rPr lang="en-US" sz="1400" dirty="0" smtClean="0"/>
                        <a:t>• </a:t>
                      </a:r>
                      <a:r>
                        <a:rPr lang="en-US" sz="1400" dirty="0"/>
                        <a:t>Provides meaningful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insights from </a:t>
                      </a:r>
                      <a:r>
                        <a:rPr lang="en-US" sz="1400" dirty="0"/>
                        <a:t>analysis </a:t>
                      </a:r>
                      <a:endParaRPr lang="en-US" sz="1400" dirty="0" smtClean="0"/>
                    </a:p>
                    <a:p>
                      <a:r>
                        <a:rPr lang="en-US" altLang="ko-KR" sz="1400" dirty="0" smtClean="0"/>
                        <a:t>• </a:t>
                      </a:r>
                      <a:r>
                        <a:rPr lang="en-US" sz="1400" dirty="0" smtClean="0"/>
                        <a:t>(</a:t>
                      </a:r>
                      <a:r>
                        <a:rPr lang="en-US" sz="1400" dirty="0"/>
                        <a:t>10)</a:t>
                      </a:r>
                    </a:p>
                  </a:txBody>
                  <a:tcPr marL="87801" marR="87801" marT="43900" marB="43900" anchor="ctr"/>
                </a:tc>
                <a:extLst>
                  <a:ext uri="{0D108BD9-81ED-4DB2-BD59-A6C34878D82A}">
                    <a16:rowId xmlns:a16="http://schemas.microsoft.com/office/drawing/2014/main" val="2903770905"/>
                  </a:ext>
                </a:extLst>
              </a:tr>
              <a:tr h="932903">
                <a:tc>
                  <a:txBody>
                    <a:bodyPr/>
                    <a:lstStyle/>
                    <a:p>
                      <a:r>
                        <a:rPr lang="en-US" sz="1400" dirty="0"/>
                        <a:t>Project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– </a:t>
                      </a:r>
                      <a:r>
                        <a:rPr lang="en-US" sz="1400" dirty="0"/>
                        <a:t>Presentation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 pts</a:t>
                      </a:r>
                      <a:endParaRPr lang="en-US" sz="1400" dirty="0"/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Slides are lengthy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and unfocused</a:t>
                      </a:r>
                    </a:p>
                    <a:p>
                      <a:r>
                        <a:rPr lang="en-US" sz="1400" dirty="0" smtClean="0"/>
                        <a:t>• </a:t>
                      </a:r>
                      <a:r>
                        <a:rPr lang="en-US" sz="1400" dirty="0"/>
                        <a:t>Reads directly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from </a:t>
                      </a:r>
                      <a:r>
                        <a:rPr lang="en-US" sz="1400" dirty="0"/>
                        <a:t>slides </a:t>
                      </a:r>
                      <a:endParaRPr lang="en-US" sz="1400" dirty="0" smtClean="0"/>
                    </a:p>
                    <a:p>
                      <a:r>
                        <a:rPr lang="en-US" altLang="ko-KR" sz="1400" dirty="0" smtClean="0"/>
                        <a:t>• </a:t>
                      </a:r>
                      <a:r>
                        <a:rPr lang="en-US" sz="1400" dirty="0" smtClean="0"/>
                        <a:t>(</a:t>
                      </a:r>
                      <a:r>
                        <a:rPr lang="en-US" sz="1400" dirty="0"/>
                        <a:t>6)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Well-prepared </a:t>
                      </a:r>
                      <a:r>
                        <a:rPr lang="en-US" sz="1400" dirty="0" smtClean="0"/>
                        <a:t>slides</a:t>
                      </a:r>
                    </a:p>
                    <a:p>
                      <a:r>
                        <a:rPr lang="en-US" sz="1400" dirty="0" smtClean="0"/>
                        <a:t>• </a:t>
                      </a:r>
                      <a:r>
                        <a:rPr lang="en-US" sz="1400" dirty="0"/>
                        <a:t>Delivery needs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more </a:t>
                      </a:r>
                      <a:r>
                        <a:rPr lang="en-US" sz="1400" dirty="0"/>
                        <a:t>rehearsal </a:t>
                      </a:r>
                      <a:endParaRPr lang="en-US" sz="1400" dirty="0" smtClean="0"/>
                    </a:p>
                    <a:p>
                      <a:r>
                        <a:rPr lang="en-US" altLang="ko-KR" sz="1400" dirty="0" smtClean="0"/>
                        <a:t>• </a:t>
                      </a:r>
                      <a:r>
                        <a:rPr lang="en-US" sz="1400" dirty="0" smtClean="0"/>
                        <a:t>(</a:t>
                      </a:r>
                      <a:r>
                        <a:rPr lang="en-US" sz="1400" dirty="0"/>
                        <a:t>8)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Answers questions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appropriately</a:t>
                      </a:r>
                    </a:p>
                    <a:p>
                      <a:r>
                        <a:rPr lang="en-US" sz="1400" dirty="0" smtClean="0"/>
                        <a:t>• </a:t>
                      </a:r>
                      <a:r>
                        <a:rPr lang="en-US" sz="1400" dirty="0"/>
                        <a:t>Presents clearly and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coherently </a:t>
                      </a:r>
                    </a:p>
                    <a:p>
                      <a:r>
                        <a:rPr lang="en-US" altLang="ko-KR" sz="1400" dirty="0" smtClean="0"/>
                        <a:t>• </a:t>
                      </a:r>
                      <a:r>
                        <a:rPr lang="en-US" sz="1400" dirty="0" smtClean="0"/>
                        <a:t>(</a:t>
                      </a:r>
                      <a:r>
                        <a:rPr lang="en-US" sz="1400" dirty="0"/>
                        <a:t>10)</a:t>
                      </a:r>
                    </a:p>
                  </a:txBody>
                  <a:tcPr marL="87801" marR="87801" marT="43900" marB="43900" anchor="ctr"/>
                </a:tc>
                <a:extLst>
                  <a:ext uri="{0D108BD9-81ED-4DB2-BD59-A6C34878D82A}">
                    <a16:rowId xmlns:a16="http://schemas.microsoft.com/office/drawing/2014/main" val="1981126175"/>
                  </a:ext>
                </a:extLst>
              </a:tr>
              <a:tr h="583065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Peer </a:t>
                      </a:r>
                      <a:r>
                        <a:rPr lang="en-US" sz="1400" dirty="0"/>
                        <a:t>Review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 pts</a:t>
                      </a:r>
                      <a:endParaRPr lang="en-US" sz="1400" dirty="0"/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3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4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/>
                        <a:t>5</a:t>
                      </a:r>
                    </a:p>
                  </a:txBody>
                  <a:tcPr marL="87801" marR="87801" marT="43900" marB="43900" anchor="ctr"/>
                </a:tc>
                <a:extLst>
                  <a:ext uri="{0D108BD9-81ED-4DB2-BD59-A6C34878D82A}">
                    <a16:rowId xmlns:a16="http://schemas.microsoft.com/office/drawing/2014/main" val="3536918674"/>
                  </a:ext>
                </a:extLst>
              </a:tr>
              <a:tr h="932903">
                <a:tc>
                  <a:txBody>
                    <a:bodyPr/>
                    <a:lstStyle/>
                    <a:p>
                      <a:r>
                        <a:rPr lang="en-US" sz="1400" dirty="0"/>
                        <a:t>Expert Evaluation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– </a:t>
                      </a:r>
                      <a:r>
                        <a:rPr lang="en-US" sz="1400" dirty="0"/>
                        <a:t>Presentation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15 pts</a:t>
                      </a:r>
                      <a:endParaRPr lang="en-US" sz="1400" dirty="0"/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Slides are lengthy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and unfocused</a:t>
                      </a:r>
                    </a:p>
                    <a:p>
                      <a:r>
                        <a:rPr lang="en-US" sz="1400" dirty="0" smtClean="0"/>
                        <a:t>• </a:t>
                      </a:r>
                      <a:r>
                        <a:rPr lang="en-US" sz="1400" dirty="0"/>
                        <a:t>Reads directly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from </a:t>
                      </a:r>
                      <a:r>
                        <a:rPr lang="en-US" sz="1400" dirty="0"/>
                        <a:t>slides </a:t>
                      </a:r>
                      <a:endParaRPr lang="en-US" sz="1400" dirty="0" smtClean="0"/>
                    </a:p>
                    <a:p>
                      <a:r>
                        <a:rPr lang="en-US" altLang="ko-KR" sz="1400" dirty="0" smtClean="0"/>
                        <a:t>• </a:t>
                      </a:r>
                      <a:r>
                        <a:rPr lang="en-US" sz="1400" dirty="0" smtClean="0"/>
                        <a:t>(</a:t>
                      </a:r>
                      <a:r>
                        <a:rPr lang="en-US" sz="1400" dirty="0"/>
                        <a:t>9)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Well-prepared </a:t>
                      </a:r>
                      <a:r>
                        <a:rPr lang="en-US" sz="1400" dirty="0" smtClean="0"/>
                        <a:t>slides</a:t>
                      </a:r>
                    </a:p>
                    <a:p>
                      <a:r>
                        <a:rPr lang="en-US" sz="1400" dirty="0" smtClean="0"/>
                        <a:t>• </a:t>
                      </a:r>
                      <a:r>
                        <a:rPr lang="en-US" sz="1400" dirty="0"/>
                        <a:t>Delivery needs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more </a:t>
                      </a:r>
                      <a:r>
                        <a:rPr lang="en-US" sz="1400" dirty="0"/>
                        <a:t>rehearsal </a:t>
                      </a:r>
                      <a:endParaRPr lang="en-US" sz="1400" dirty="0" smtClean="0"/>
                    </a:p>
                    <a:p>
                      <a:r>
                        <a:rPr lang="en-US" altLang="ko-KR" sz="1400" dirty="0" smtClean="0"/>
                        <a:t>• </a:t>
                      </a:r>
                      <a:r>
                        <a:rPr lang="en-US" sz="1400" dirty="0" smtClean="0"/>
                        <a:t>(</a:t>
                      </a:r>
                      <a:r>
                        <a:rPr lang="en-US" sz="1400" dirty="0"/>
                        <a:t>12)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Answers questions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appropriately</a:t>
                      </a:r>
                    </a:p>
                    <a:p>
                      <a:r>
                        <a:rPr lang="en-US" sz="1400" dirty="0" smtClean="0"/>
                        <a:t>• </a:t>
                      </a:r>
                      <a:r>
                        <a:rPr lang="en-US" sz="1400" dirty="0"/>
                        <a:t>Presents clearly and 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coherently </a:t>
                      </a:r>
                    </a:p>
                    <a:p>
                      <a:r>
                        <a:rPr lang="en-US" altLang="ko-KR" sz="1400" dirty="0" smtClean="0"/>
                        <a:t>• </a:t>
                      </a:r>
                      <a:r>
                        <a:rPr lang="en-US" sz="1400" dirty="0" smtClean="0"/>
                        <a:t>(</a:t>
                      </a:r>
                      <a:r>
                        <a:rPr lang="en-US" sz="1400" dirty="0"/>
                        <a:t>15)</a:t>
                      </a:r>
                    </a:p>
                  </a:txBody>
                  <a:tcPr marL="87801" marR="87801" marT="43900" marB="43900" anchor="ctr"/>
                </a:tc>
                <a:extLst>
                  <a:ext uri="{0D108BD9-81ED-4DB2-BD59-A6C34878D82A}">
                    <a16:rowId xmlns:a16="http://schemas.microsoft.com/office/drawing/2014/main" val="8303433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Key </a:t>
            </a:r>
            <a:r>
              <a:rPr dirty="0"/>
              <a:t>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Focus </a:t>
            </a:r>
            <a:r>
              <a:rPr dirty="0"/>
              <a:t>on explanation, not prediction</a:t>
            </a:r>
          </a:p>
          <a:p>
            <a:r>
              <a:rPr dirty="0" smtClean="0"/>
              <a:t>Each </a:t>
            </a:r>
            <a:r>
              <a:rPr dirty="0"/>
              <a:t>team selects a different city</a:t>
            </a:r>
          </a:p>
          <a:p>
            <a:r>
              <a:rPr dirty="0" smtClean="0"/>
              <a:t>Explore </a:t>
            </a:r>
            <a:r>
              <a:rPr dirty="0"/>
              <a:t>how size, age, and location influence price</a:t>
            </a:r>
          </a:p>
          <a:p>
            <a:r>
              <a:rPr dirty="0" smtClean="0"/>
              <a:t>Use </a:t>
            </a:r>
            <a:r>
              <a:rPr dirty="0"/>
              <a:t>EDA to tell a clear data story</a:t>
            </a:r>
          </a:p>
          <a:p>
            <a:endParaRPr dirty="0"/>
          </a:p>
          <a:p>
            <a:r>
              <a:rPr dirty="0" smtClean="0"/>
              <a:t>Prepare </a:t>
            </a:r>
            <a:r>
              <a:rPr dirty="0"/>
              <a:t>cleaned data for regression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tgers_2_Topic2_최종보고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Rutgers_2_Topic2_최종보고</Template>
  <TotalTime>221</TotalTime>
  <Words>580</Words>
  <Application>Microsoft Office PowerPoint</Application>
  <PresentationFormat>화면 슬라이드 쇼(4:3)</PresentationFormat>
  <Paragraphs>125</Paragraphs>
  <Slides>10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MS PGothic</vt:lpstr>
      <vt:lpstr>MS PGothic</vt:lpstr>
      <vt:lpstr>굴림</vt:lpstr>
      <vt:lpstr>맑은 고딕</vt:lpstr>
      <vt:lpstr>Arial</vt:lpstr>
      <vt:lpstr>Calibri</vt:lpstr>
      <vt:lpstr>Courier New</vt:lpstr>
      <vt:lpstr>Times</vt:lpstr>
      <vt:lpstr>Times New Roman</vt:lpstr>
      <vt:lpstr>Wingdings</vt:lpstr>
      <vt:lpstr>Rutgers_2_Topic2_최종보고</vt:lpstr>
      <vt:lpstr>Redfin Housing Market Analysis Project</vt:lpstr>
      <vt:lpstr>Project Overview</vt:lpstr>
      <vt:lpstr>Methodology &amp; Tools</vt:lpstr>
      <vt:lpstr>Data Source</vt:lpstr>
      <vt:lpstr>How to Obtain the Data</vt:lpstr>
      <vt:lpstr>Example Variables</vt:lpstr>
      <vt:lpstr>Expected Outcomes</vt:lpstr>
      <vt:lpstr>Deliverables</vt:lpstr>
      <vt:lpstr>Evaluation Criteria</vt:lpstr>
      <vt:lpstr>Key Guidelines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Redfin Housing Market Analysis Project</dc:title>
  <dc:subject/>
  <dc:creator>user</dc:creator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2025-11-10T06:39:34Z</dcterms:modified>
  <cp:category/>
</cp:coreProperties>
</file>